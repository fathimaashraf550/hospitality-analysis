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66981-2589-4EC5-8D6A-68D017E87A04}" type="datetimeFigureOut">
              <a:rPr lang="en-AE" smtClean="0"/>
              <a:t>03/06/2026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E06056-DF1C-4F61-802D-FDBEC22152FE}" type="slidenum">
              <a:rPr lang="en-AE" smtClean="0"/>
              <a:t>‹#›</a:t>
            </a:fld>
            <a:endParaRPr lang="en-AE"/>
          </a:p>
        </p:txBody>
      </p:sp>
    </p:spTree>
    <p:extLst>
      <p:ext uri="{BB962C8B-B14F-4D97-AF65-F5344CB8AC3E}">
        <p14:creationId xmlns:p14="http://schemas.microsoft.com/office/powerpoint/2010/main" val="284198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10E06056-DF1C-4F61-802D-FDBEC22152FE}" type="slidenum">
              <a:rPr lang="en-AE" smtClean="0"/>
              <a:t>9</a:t>
            </a:fld>
            <a:endParaRPr lang="en-AE"/>
          </a:p>
        </p:txBody>
      </p:sp>
    </p:spTree>
    <p:extLst>
      <p:ext uri="{BB962C8B-B14F-4D97-AF65-F5344CB8AC3E}">
        <p14:creationId xmlns:p14="http://schemas.microsoft.com/office/powerpoint/2010/main" val="2298327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10E06056-DF1C-4F61-802D-FDBEC22152FE}" type="slidenum">
              <a:rPr lang="en-AE" smtClean="0"/>
              <a:t>10</a:t>
            </a:fld>
            <a:endParaRPr lang="en-AE"/>
          </a:p>
        </p:txBody>
      </p:sp>
    </p:spTree>
    <p:extLst>
      <p:ext uri="{BB962C8B-B14F-4D97-AF65-F5344CB8AC3E}">
        <p14:creationId xmlns:p14="http://schemas.microsoft.com/office/powerpoint/2010/main" val="2652906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361D-6821-D1A0-B9C5-49BA666988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8A869481-2571-D205-723B-7AECCDE04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9B9C5AF4-1E8C-EA60-5C78-A16FBB97D1AD}"/>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5" name="Footer Placeholder 4">
            <a:extLst>
              <a:ext uri="{FF2B5EF4-FFF2-40B4-BE49-F238E27FC236}">
                <a16:creationId xmlns:a16="http://schemas.microsoft.com/office/drawing/2014/main" id="{FA9697DE-9ABF-D818-5752-D02DBD32BFC5}"/>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CC5D5C4A-DB91-23DC-B825-1C64F0096281}"/>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402314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B57BF-E178-8DE6-5A0F-5A1C48619BB2}"/>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E2B4DC7E-24AF-9725-2246-E9B82F1D3E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968A416F-E530-7C6F-EE7C-1A4572FD6153}"/>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5" name="Footer Placeholder 4">
            <a:extLst>
              <a:ext uri="{FF2B5EF4-FFF2-40B4-BE49-F238E27FC236}">
                <a16:creationId xmlns:a16="http://schemas.microsoft.com/office/drawing/2014/main" id="{4D533537-84A0-0745-C5EA-EE1104BA71C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588E4137-47EA-1278-FD14-A26AAB311736}"/>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3704517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76C1F-A6A6-EBC4-042F-21730889F4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22E322CF-2907-C5BB-40D1-BEDB3F26BF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F94448-9CE2-4EEB-06E4-4D430B9F22EC}"/>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5" name="Footer Placeholder 4">
            <a:extLst>
              <a:ext uri="{FF2B5EF4-FFF2-40B4-BE49-F238E27FC236}">
                <a16:creationId xmlns:a16="http://schemas.microsoft.com/office/drawing/2014/main" id="{F2013655-16E1-38D5-1CDE-1F547F99800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32C6FA3-B7D3-F4C2-676B-E7F88D5EB13E}"/>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282262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B0E0-4EC2-C68D-A42A-2EF2075457F2}"/>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25810779-C1D5-C303-6035-8ECBDAC5C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D4C1535F-9B32-9796-EFCA-9699563F38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F3183E6F-A6D3-026A-6FD8-E027BB0E52B1}"/>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6" name="Footer Placeholder 5">
            <a:extLst>
              <a:ext uri="{FF2B5EF4-FFF2-40B4-BE49-F238E27FC236}">
                <a16:creationId xmlns:a16="http://schemas.microsoft.com/office/drawing/2014/main" id="{5F3BE792-FA52-210C-7231-B8B0A90AFAB4}"/>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05A2369A-AB40-4828-6EC6-C5B894E76915}"/>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704991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3630F-861B-1812-F4E3-0542F1D39FBA}"/>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D43682D7-3BE0-5B11-E956-E24E9A8AAB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900736-6ADF-ECBE-6B12-E5FD33C994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3640AC1E-704C-6549-4B9F-7D54AD033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86B5D7-21FE-4C36-B98F-44D783D773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4548ED55-85F1-FCE5-A62D-527D73F0D87B}"/>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8" name="Footer Placeholder 7">
            <a:extLst>
              <a:ext uri="{FF2B5EF4-FFF2-40B4-BE49-F238E27FC236}">
                <a16:creationId xmlns:a16="http://schemas.microsoft.com/office/drawing/2014/main" id="{16D79BE1-43E4-EDD2-A56F-6013FD9BE91C}"/>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C3BB8279-2849-C9DE-B018-1EEFD6B08A12}"/>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2794127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22D5-3B30-2EE9-7FBE-675BE1C4F20A}"/>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4A8281BD-1BD6-11F5-CCAB-AC0B3E451002}"/>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4" name="Footer Placeholder 3">
            <a:extLst>
              <a:ext uri="{FF2B5EF4-FFF2-40B4-BE49-F238E27FC236}">
                <a16:creationId xmlns:a16="http://schemas.microsoft.com/office/drawing/2014/main" id="{6D8D1FCB-917E-6ABE-6AA0-5E1CBB9E9776}"/>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2FE72173-27BF-2FDF-438A-F29B4953B960}"/>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377569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3C7D97-D1F5-6E82-71CE-91D901B70938}"/>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3" name="Footer Placeholder 2">
            <a:extLst>
              <a:ext uri="{FF2B5EF4-FFF2-40B4-BE49-F238E27FC236}">
                <a16:creationId xmlns:a16="http://schemas.microsoft.com/office/drawing/2014/main" id="{AD4CFBDA-F16D-5811-E635-47A77D66145F}"/>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4CAE0DD5-FD50-B3ED-9127-6B3EBF54FBCC}"/>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4173652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9793-3458-B687-E919-52A31832E3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DC992458-3411-372A-8A38-C509252F05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63A1748F-3797-D32F-F2DF-E60BCD35B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93582C-6BB9-5159-769D-DF2EECB01127}"/>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6" name="Footer Placeholder 5">
            <a:extLst>
              <a:ext uri="{FF2B5EF4-FFF2-40B4-BE49-F238E27FC236}">
                <a16:creationId xmlns:a16="http://schemas.microsoft.com/office/drawing/2014/main" id="{ACAB5656-7FC2-8C35-B6C1-03721A2BC918}"/>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C9890415-81FE-E03E-BCA6-116948639402}"/>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4074399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4C1A4-71E5-D797-6C5D-A4605E14C8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EA0AE0B9-4DE0-AE5B-7A0F-086CB3E6D6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0529C8DD-121E-00BB-8C3C-93E604CE2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CC14C-3EA0-5D34-7F69-46703F7ECB88}"/>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6" name="Footer Placeholder 5">
            <a:extLst>
              <a:ext uri="{FF2B5EF4-FFF2-40B4-BE49-F238E27FC236}">
                <a16:creationId xmlns:a16="http://schemas.microsoft.com/office/drawing/2014/main" id="{EB843B0E-8E95-9651-B65A-701842FC0BF3}"/>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93EB37D0-AC22-8865-85B1-0C04A6D6F715}"/>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1065106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B8B60-99BD-CF82-1E88-28BF8B7F5B6C}"/>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F5B61958-5176-8ABC-191B-FE8E1E394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FEBC085-92B9-793F-B1F2-7BDE04FE1799}"/>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5" name="Footer Placeholder 4">
            <a:extLst>
              <a:ext uri="{FF2B5EF4-FFF2-40B4-BE49-F238E27FC236}">
                <a16:creationId xmlns:a16="http://schemas.microsoft.com/office/drawing/2014/main" id="{38FA1F9B-C8CA-013B-DFC5-46847C06F05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7B3E7422-A4B2-B2C0-330E-DE5F931472ED}"/>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55519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32996-84A8-22B4-2E75-02C4683D55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91AB39E0-C81C-7DB5-2351-C9D8B6C9E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420F4472-23C0-AA83-50A9-69DEAEA2339F}"/>
              </a:ext>
            </a:extLst>
          </p:cNvPr>
          <p:cNvSpPr>
            <a:spLocks noGrp="1"/>
          </p:cNvSpPr>
          <p:nvPr>
            <p:ph type="dt" sz="half" idx="10"/>
          </p:nvPr>
        </p:nvSpPr>
        <p:spPr/>
        <p:txBody>
          <a:bodyPr/>
          <a:lstStyle/>
          <a:p>
            <a:fld id="{8D50CEE3-8FF8-49CE-99F1-9CD8080579E0}" type="datetimeFigureOut">
              <a:rPr lang="en-AE" smtClean="0"/>
              <a:t>03/06/2026</a:t>
            </a:fld>
            <a:endParaRPr lang="en-AE"/>
          </a:p>
        </p:txBody>
      </p:sp>
      <p:sp>
        <p:nvSpPr>
          <p:cNvPr id="5" name="Footer Placeholder 4">
            <a:extLst>
              <a:ext uri="{FF2B5EF4-FFF2-40B4-BE49-F238E27FC236}">
                <a16:creationId xmlns:a16="http://schemas.microsoft.com/office/drawing/2014/main" id="{446E4795-2402-F70F-313C-6F701C024C8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853F7F65-F6D0-EBBA-7BA1-6D8E1B02662D}"/>
              </a:ext>
            </a:extLst>
          </p:cNvPr>
          <p:cNvSpPr>
            <a:spLocks noGrp="1"/>
          </p:cNvSpPr>
          <p:nvPr>
            <p:ph type="sldNum" sz="quarter" idx="12"/>
          </p:nvPr>
        </p:nvSpPr>
        <p:spPr/>
        <p:txBody>
          <a:bodyPr/>
          <a:lstStyle/>
          <a:p>
            <a:fld id="{764D0366-8D1A-41F9-818F-DEF59E3254A6}" type="slidenum">
              <a:rPr lang="en-AE" smtClean="0"/>
              <a:t>‹#›</a:t>
            </a:fld>
            <a:endParaRPr lang="en-AE"/>
          </a:p>
        </p:txBody>
      </p:sp>
    </p:spTree>
    <p:extLst>
      <p:ext uri="{BB962C8B-B14F-4D97-AF65-F5344CB8AC3E}">
        <p14:creationId xmlns:p14="http://schemas.microsoft.com/office/powerpoint/2010/main" val="1040661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56494D-C640-3BFB-1283-0E9FFEAD2F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1FF06B3E-FE21-3102-D128-C34F867CF6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BC22263A-49A3-914E-56AB-62D71C66F3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50CEE3-8FF8-49CE-99F1-9CD8080579E0}" type="datetimeFigureOut">
              <a:rPr lang="en-AE" smtClean="0"/>
              <a:t>03/06/2026</a:t>
            </a:fld>
            <a:endParaRPr lang="en-AE"/>
          </a:p>
        </p:txBody>
      </p:sp>
      <p:sp>
        <p:nvSpPr>
          <p:cNvPr id="5" name="Footer Placeholder 4">
            <a:extLst>
              <a:ext uri="{FF2B5EF4-FFF2-40B4-BE49-F238E27FC236}">
                <a16:creationId xmlns:a16="http://schemas.microsoft.com/office/drawing/2014/main" id="{47D5260F-E347-F652-0CC7-F8C7D22E61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B158242F-719B-065E-40BF-EFE3DF23FD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4D0366-8D1A-41F9-818F-DEF59E3254A6}" type="slidenum">
              <a:rPr lang="en-AE" smtClean="0"/>
              <a:t>‹#›</a:t>
            </a:fld>
            <a:endParaRPr lang="en-AE"/>
          </a:p>
        </p:txBody>
      </p:sp>
    </p:spTree>
    <p:extLst>
      <p:ext uri="{BB962C8B-B14F-4D97-AF65-F5344CB8AC3E}">
        <p14:creationId xmlns:p14="http://schemas.microsoft.com/office/powerpoint/2010/main" val="3388365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app.powerbi.com/view?r=eyJrIjoiMDE1NDA1ZTEtNWIyNS00NmE5LWFlMjMtMTQ1NTgxNDIwYzBmIiwidCI6ImM2ZTU0OWIzLTVmNDUtNDAzMi1hYWU5LWQ0MjQ0ZGM1YjJjNCJ9"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0" name="Group 109">
            <a:extLst>
              <a:ext uri="{FF2B5EF4-FFF2-40B4-BE49-F238E27FC236}">
                <a16:creationId xmlns:a16="http://schemas.microsoft.com/office/drawing/2014/main" id="{3E84BE2F-C43D-43D9-A96D-1526003268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11" name="Color">
              <a:extLst>
                <a:ext uri="{FF2B5EF4-FFF2-40B4-BE49-F238E27FC236}">
                  <a16:creationId xmlns:a16="http://schemas.microsoft.com/office/drawing/2014/main" id="{E7400609-3385-4926-AD61-85A199F07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Color">
              <a:extLst>
                <a:ext uri="{FF2B5EF4-FFF2-40B4-BE49-F238E27FC236}">
                  <a16:creationId xmlns:a16="http://schemas.microsoft.com/office/drawing/2014/main" id="{9E9E1A20-C3CA-40B4-8D3A-3EAC12D69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Pipette adding DNA sample to a petri dish">
            <a:extLst>
              <a:ext uri="{FF2B5EF4-FFF2-40B4-BE49-F238E27FC236}">
                <a16:creationId xmlns:a16="http://schemas.microsoft.com/office/drawing/2014/main" id="{E171B76F-24D6-7C68-254A-72C2C5CEB4F9}"/>
              </a:ext>
            </a:extLst>
          </p:cNvPr>
          <p:cNvPicPr>
            <a:picLocks noChangeAspect="1"/>
          </p:cNvPicPr>
          <p:nvPr/>
        </p:nvPicPr>
        <p:blipFill>
          <a:blip r:embed="rId3"/>
          <a:srcRect t="9091" r="13818"/>
          <a:stretch>
            <a:fillRect/>
          </a:stretch>
        </p:blipFill>
        <p:spPr>
          <a:xfrm>
            <a:off x="6382287" y="96500"/>
            <a:ext cx="5655638" cy="3169214"/>
          </a:xfrm>
          <a:prstGeom prst="rect">
            <a:avLst/>
          </a:prstGeom>
        </p:spPr>
      </p:pic>
      <p:grpSp>
        <p:nvGrpSpPr>
          <p:cNvPr id="114" name="Group 113">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15" name="Freeform: Shape 114">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6" name="Freeform: Shape 115">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7" name="Freeform: Shape 116">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8" name="Freeform: Shape 117">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9" name="Freeform: Shape 118">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20" name="Freeform: Shape 119">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21" name="Freeform: Shape 120">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26B0D07-2651-61AE-86D5-7043A68B8143}"/>
              </a:ext>
            </a:extLst>
          </p:cNvPr>
          <p:cNvSpPr>
            <a:spLocks noGrp="1"/>
          </p:cNvSpPr>
          <p:nvPr>
            <p:ph type="ctrTitle"/>
          </p:nvPr>
        </p:nvSpPr>
        <p:spPr>
          <a:xfrm>
            <a:off x="1012644" y="598260"/>
            <a:ext cx="4879001" cy="3026128"/>
          </a:xfrm>
        </p:spPr>
        <p:txBody>
          <a:bodyPr anchor="b">
            <a:normAutofit/>
          </a:bodyPr>
          <a:lstStyle/>
          <a:p>
            <a:pPr algn="l"/>
            <a:r>
              <a:rPr lang="en-GB" sz="4800">
                <a:solidFill>
                  <a:schemeClr val="bg1"/>
                </a:solidFill>
              </a:rPr>
              <a:t>AtliQ Grands-Hospitality Analysis</a:t>
            </a:r>
            <a:endParaRPr lang="en-AE" sz="4800">
              <a:solidFill>
                <a:schemeClr val="bg1"/>
              </a:solidFill>
            </a:endParaRPr>
          </a:p>
        </p:txBody>
      </p:sp>
      <p:sp>
        <p:nvSpPr>
          <p:cNvPr id="3" name="Subtitle 2">
            <a:extLst>
              <a:ext uri="{FF2B5EF4-FFF2-40B4-BE49-F238E27FC236}">
                <a16:creationId xmlns:a16="http://schemas.microsoft.com/office/drawing/2014/main" id="{9ED324FC-0923-C9BF-C4E0-0ADADFE58ED9}"/>
              </a:ext>
            </a:extLst>
          </p:cNvPr>
          <p:cNvSpPr>
            <a:spLocks noGrp="1"/>
          </p:cNvSpPr>
          <p:nvPr>
            <p:ph type="subTitle" idx="1"/>
          </p:nvPr>
        </p:nvSpPr>
        <p:spPr>
          <a:xfrm>
            <a:off x="1012644" y="3764655"/>
            <a:ext cx="4879001" cy="2495085"/>
          </a:xfrm>
        </p:spPr>
        <p:txBody>
          <a:bodyPr anchor="t">
            <a:normAutofit/>
          </a:bodyPr>
          <a:lstStyle/>
          <a:p>
            <a:pPr algn="l"/>
            <a:r>
              <a:rPr lang="en-GB">
                <a:solidFill>
                  <a:schemeClr val="bg1"/>
                </a:solidFill>
              </a:rPr>
              <a:t>By </a:t>
            </a:r>
          </a:p>
          <a:p>
            <a:pPr algn="l"/>
            <a:r>
              <a:rPr lang="en-GB">
                <a:solidFill>
                  <a:schemeClr val="bg1"/>
                </a:solidFill>
              </a:rPr>
              <a:t>Fathima Ashraf</a:t>
            </a:r>
            <a:endParaRPr lang="en-AE">
              <a:solidFill>
                <a:schemeClr val="bg1"/>
              </a:solidFill>
            </a:endParaRPr>
          </a:p>
        </p:txBody>
      </p:sp>
    </p:spTree>
    <p:custDataLst>
      <p:tags r:id="rId1"/>
    </p:custDataLst>
    <p:extLst>
      <p:ext uri="{BB962C8B-B14F-4D97-AF65-F5344CB8AC3E}">
        <p14:creationId xmlns:p14="http://schemas.microsoft.com/office/powerpoint/2010/main" val="374062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9" name="Rectangle 18">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ACD49D-D3A0-DD85-5918-14E29E534BAF}"/>
              </a:ext>
            </a:extLst>
          </p:cNvPr>
          <p:cNvSpPr>
            <a:spLocks noGrp="1"/>
          </p:cNvSpPr>
          <p:nvPr>
            <p:ph type="title"/>
          </p:nvPr>
        </p:nvSpPr>
        <p:spPr>
          <a:xfrm>
            <a:off x="1282963" y="1238080"/>
            <a:ext cx="9849751" cy="1349671"/>
          </a:xfrm>
        </p:spPr>
        <p:txBody>
          <a:bodyPr anchor="b">
            <a:normAutofit/>
          </a:bodyPr>
          <a:lstStyle/>
          <a:p>
            <a:r>
              <a:rPr lang="en-GB" sz="5400"/>
              <a:t>Company Overview</a:t>
            </a:r>
            <a:endParaRPr lang="en-AE" sz="5400"/>
          </a:p>
        </p:txBody>
      </p:sp>
      <p:sp>
        <p:nvSpPr>
          <p:cNvPr id="3" name="Content Placeholder 2">
            <a:extLst>
              <a:ext uri="{FF2B5EF4-FFF2-40B4-BE49-F238E27FC236}">
                <a16:creationId xmlns:a16="http://schemas.microsoft.com/office/drawing/2014/main" id="{EC94690A-0FD3-9634-7D14-41960FE13812}"/>
              </a:ext>
            </a:extLst>
          </p:cNvPr>
          <p:cNvSpPr>
            <a:spLocks noGrp="1"/>
          </p:cNvSpPr>
          <p:nvPr>
            <p:ph idx="1"/>
          </p:nvPr>
        </p:nvSpPr>
        <p:spPr>
          <a:xfrm>
            <a:off x="1289304" y="2902913"/>
            <a:ext cx="9849751" cy="3032168"/>
          </a:xfrm>
        </p:spPr>
        <p:txBody>
          <a:bodyPr anchor="ctr">
            <a:normAutofit/>
          </a:bodyPr>
          <a:lstStyle/>
          <a:p>
            <a:r>
              <a:rPr lang="en-GB" sz="2000" dirty="0" err="1"/>
              <a:t>AtliQ</a:t>
            </a:r>
            <a:r>
              <a:rPr lang="en-GB" sz="2000" dirty="0"/>
              <a:t> Grands is a leading hospitality company operating multiple five-star hotels across India </a:t>
            </a:r>
          </a:p>
          <a:p>
            <a:r>
              <a:rPr lang="en-GB" sz="2000" dirty="0"/>
              <a:t>Over 20 years of experience in the hospitality industry </a:t>
            </a:r>
          </a:p>
          <a:p>
            <a:r>
              <a:rPr lang="en-GB" sz="2000" dirty="0"/>
              <a:t>Focuses on luxury and business hotel segments </a:t>
            </a:r>
          </a:p>
          <a:p>
            <a:r>
              <a:rPr lang="en-GB" sz="2000" dirty="0"/>
              <a:t>Strong presence in major cities: Delhi, Mumbai, Hyderabad, and Bangalore </a:t>
            </a:r>
          </a:p>
          <a:p>
            <a:r>
              <a:rPr lang="en-GB" sz="2000" dirty="0"/>
              <a:t>Known for premium customer experience and high-quality services </a:t>
            </a:r>
          </a:p>
          <a:p>
            <a:r>
              <a:rPr lang="en-GB" sz="2000" dirty="0"/>
              <a:t>Offers multiple room categories: Standard, Elite, Premium, and Presidential </a:t>
            </a:r>
          </a:p>
          <a:p>
            <a:endParaRPr lang="en-AE" sz="2000" dirty="0"/>
          </a:p>
        </p:txBody>
      </p:sp>
    </p:spTree>
    <p:extLst>
      <p:ext uri="{BB962C8B-B14F-4D97-AF65-F5344CB8AC3E}">
        <p14:creationId xmlns:p14="http://schemas.microsoft.com/office/powerpoint/2010/main" val="2124266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gled shot of pen on a graph">
            <a:extLst>
              <a:ext uri="{FF2B5EF4-FFF2-40B4-BE49-F238E27FC236}">
                <a16:creationId xmlns:a16="http://schemas.microsoft.com/office/drawing/2014/main" id="{BF85184D-8AB0-8423-8B53-E53039A62FB2}"/>
              </a:ext>
            </a:extLst>
          </p:cNvPr>
          <p:cNvPicPr>
            <a:picLocks noChangeAspect="1"/>
          </p:cNvPicPr>
          <p:nvPr/>
        </p:nvPicPr>
        <p:blipFill>
          <a:blip r:embed="rId2"/>
          <a:srcRect l="4938" r="42403" b="-2"/>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9327D9-BE2E-F0F0-FED3-049D71BA068E}"/>
              </a:ext>
            </a:extLst>
          </p:cNvPr>
          <p:cNvSpPr>
            <a:spLocks noGrp="1"/>
          </p:cNvSpPr>
          <p:nvPr>
            <p:ph type="title"/>
          </p:nvPr>
        </p:nvSpPr>
        <p:spPr>
          <a:xfrm>
            <a:off x="6115317" y="405685"/>
            <a:ext cx="5464968" cy="1559301"/>
          </a:xfrm>
        </p:spPr>
        <p:txBody>
          <a:bodyPr>
            <a:normAutofit/>
          </a:bodyPr>
          <a:lstStyle/>
          <a:p>
            <a:r>
              <a:rPr lang="en-GB" sz="4000"/>
              <a:t>Problem Statement</a:t>
            </a:r>
            <a:endParaRPr lang="en-AE" sz="4000"/>
          </a:p>
        </p:txBody>
      </p:sp>
      <p:sp>
        <p:nvSpPr>
          <p:cNvPr id="3" name="Content Placeholder 2">
            <a:extLst>
              <a:ext uri="{FF2B5EF4-FFF2-40B4-BE49-F238E27FC236}">
                <a16:creationId xmlns:a16="http://schemas.microsoft.com/office/drawing/2014/main" id="{E4D7FDFB-6554-0F80-F136-F0774AB9A6E6}"/>
              </a:ext>
            </a:extLst>
          </p:cNvPr>
          <p:cNvSpPr>
            <a:spLocks noGrp="1"/>
          </p:cNvSpPr>
          <p:nvPr>
            <p:ph idx="1"/>
          </p:nvPr>
        </p:nvSpPr>
        <p:spPr>
          <a:xfrm>
            <a:off x="6115317" y="2743200"/>
            <a:ext cx="5247340" cy="3496878"/>
          </a:xfrm>
        </p:spPr>
        <p:txBody>
          <a:bodyPr anchor="ctr">
            <a:normAutofit/>
          </a:bodyPr>
          <a:lstStyle/>
          <a:p>
            <a:r>
              <a:rPr lang="en-GB" sz="2000" b="1"/>
              <a:t>AtliQ Grands</a:t>
            </a:r>
            <a:r>
              <a:rPr lang="en-GB" sz="2000"/>
              <a:t>, a five-star hotel chain across India, has been losing its market share and revenue due to increased competition and ineffective management decisions.</a:t>
            </a:r>
            <a:br>
              <a:rPr lang="en-GB" sz="2000"/>
            </a:br>
            <a:r>
              <a:rPr lang="en-GB" sz="2000"/>
              <a:t>To address this, the company decided to incorporate </a:t>
            </a:r>
            <a:r>
              <a:rPr lang="en-GB" sz="2000" b="1"/>
              <a:t>Business and Data Intelligence</a:t>
            </a:r>
            <a:r>
              <a:rPr lang="en-GB" sz="2000"/>
              <a:t> to improve decision-making.</a:t>
            </a:r>
          </a:p>
          <a:p>
            <a:pPr marL="0" indent="0">
              <a:buNone/>
            </a:pPr>
            <a:br>
              <a:rPr lang="en-GB" sz="2000"/>
            </a:br>
            <a:endParaRPr lang="en-AE" sz="2000" dirty="0"/>
          </a:p>
        </p:txBody>
      </p:sp>
    </p:spTree>
    <p:extLst>
      <p:ext uri="{BB962C8B-B14F-4D97-AF65-F5344CB8AC3E}">
        <p14:creationId xmlns:p14="http://schemas.microsoft.com/office/powerpoint/2010/main" val="2045712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D0BDCB-9452-BA0E-5EC0-1A93E1BBD5E5}"/>
              </a:ext>
            </a:extLst>
          </p:cNvPr>
          <p:cNvSpPr>
            <a:spLocks noGrp="1"/>
          </p:cNvSpPr>
          <p:nvPr>
            <p:ph type="title"/>
          </p:nvPr>
        </p:nvSpPr>
        <p:spPr>
          <a:xfrm>
            <a:off x="761803" y="350196"/>
            <a:ext cx="4646904" cy="1624520"/>
          </a:xfrm>
        </p:spPr>
        <p:txBody>
          <a:bodyPr anchor="ctr">
            <a:normAutofit/>
          </a:bodyPr>
          <a:lstStyle/>
          <a:p>
            <a:r>
              <a:rPr lang="en-GB" sz="4000"/>
              <a:t>Project Objectives</a:t>
            </a:r>
            <a:endParaRPr lang="en-AE" sz="4000"/>
          </a:p>
        </p:txBody>
      </p:sp>
      <p:sp>
        <p:nvSpPr>
          <p:cNvPr id="3" name="Content Placeholder 2">
            <a:extLst>
              <a:ext uri="{FF2B5EF4-FFF2-40B4-BE49-F238E27FC236}">
                <a16:creationId xmlns:a16="http://schemas.microsoft.com/office/drawing/2014/main" id="{F017FD66-6222-22E8-53AC-00630723FB8C}"/>
              </a:ext>
            </a:extLst>
          </p:cNvPr>
          <p:cNvSpPr>
            <a:spLocks noGrp="1"/>
          </p:cNvSpPr>
          <p:nvPr>
            <p:ph idx="1"/>
          </p:nvPr>
        </p:nvSpPr>
        <p:spPr>
          <a:xfrm>
            <a:off x="761802" y="2743200"/>
            <a:ext cx="4646905" cy="3613149"/>
          </a:xfrm>
        </p:spPr>
        <p:txBody>
          <a:bodyPr anchor="ctr">
            <a:normAutofit/>
          </a:bodyPr>
          <a:lstStyle/>
          <a:p>
            <a:r>
              <a:rPr lang="en-GB" sz="2400"/>
              <a:t>Develop business metrics based on stakeholder requirements</a:t>
            </a:r>
          </a:p>
          <a:p>
            <a:r>
              <a:rPr lang="en-GB" sz="2400"/>
              <a:t>Design dashboards aligned with mock-ups</a:t>
            </a:r>
          </a:p>
          <a:p>
            <a:r>
              <a:rPr lang="en-GB" sz="2400"/>
              <a:t>Generate additional insights beyond the given metric list</a:t>
            </a:r>
          </a:p>
          <a:p>
            <a:endParaRPr lang="en-AE" sz="2000" dirty="0"/>
          </a:p>
        </p:txBody>
      </p:sp>
      <p:pic>
        <p:nvPicPr>
          <p:cNvPr id="5" name="Picture 4" descr="A person reaching for a paper on a table full of paper and sticky notes">
            <a:extLst>
              <a:ext uri="{FF2B5EF4-FFF2-40B4-BE49-F238E27FC236}">
                <a16:creationId xmlns:a16="http://schemas.microsoft.com/office/drawing/2014/main" id="{EE1487A4-0B23-26F8-986E-97B3382FCFA5}"/>
              </a:ext>
            </a:extLst>
          </p:cNvPr>
          <p:cNvPicPr>
            <a:picLocks noChangeAspect="1"/>
          </p:cNvPicPr>
          <p:nvPr/>
        </p:nvPicPr>
        <p:blipFill>
          <a:blip r:embed="rId2"/>
          <a:srcRect l="19804" r="20795"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715810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A6980C-C944-B044-2F3D-3C981C14918B}"/>
              </a:ext>
            </a:extLst>
          </p:cNvPr>
          <p:cNvSpPr>
            <a:spLocks noGrp="1"/>
          </p:cNvSpPr>
          <p:nvPr>
            <p:ph type="title"/>
          </p:nvPr>
        </p:nvSpPr>
        <p:spPr>
          <a:xfrm>
            <a:off x="1043631" y="809898"/>
            <a:ext cx="9942716" cy="1554480"/>
          </a:xfrm>
        </p:spPr>
        <p:txBody>
          <a:bodyPr anchor="ctr">
            <a:normAutofit/>
          </a:bodyPr>
          <a:lstStyle/>
          <a:p>
            <a:r>
              <a:rPr lang="en-GB" sz="4800"/>
              <a:t>Solution Approach</a:t>
            </a:r>
            <a:br>
              <a:rPr lang="en-GB" sz="4800"/>
            </a:br>
            <a:r>
              <a:rPr lang="en-GB" sz="4800"/>
              <a:t>1.Data Collection</a:t>
            </a:r>
            <a:endParaRPr lang="en-AE" sz="4800"/>
          </a:p>
        </p:txBody>
      </p:sp>
      <p:sp>
        <p:nvSpPr>
          <p:cNvPr id="3" name="Content Placeholder 2">
            <a:extLst>
              <a:ext uri="{FF2B5EF4-FFF2-40B4-BE49-F238E27FC236}">
                <a16:creationId xmlns:a16="http://schemas.microsoft.com/office/drawing/2014/main" id="{CAB97063-2C5A-159B-5833-D125C41A40AC}"/>
              </a:ext>
            </a:extLst>
          </p:cNvPr>
          <p:cNvSpPr>
            <a:spLocks noGrp="1"/>
          </p:cNvSpPr>
          <p:nvPr>
            <p:ph idx="1"/>
          </p:nvPr>
        </p:nvSpPr>
        <p:spPr>
          <a:xfrm>
            <a:off x="1045028" y="3017522"/>
            <a:ext cx="9941319" cy="3124658"/>
          </a:xfrm>
        </p:spPr>
        <p:txBody>
          <a:bodyPr anchor="ctr">
            <a:normAutofit/>
          </a:bodyPr>
          <a:lstStyle/>
          <a:p>
            <a:r>
              <a:rPr lang="en-IN" sz="2400" dirty="0"/>
              <a:t>Data was sourced from multiple CSV files:</a:t>
            </a:r>
          </a:p>
          <a:p>
            <a:r>
              <a:rPr lang="en-IN" sz="2400" dirty="0"/>
              <a:t>dim_date.csv</a:t>
            </a:r>
          </a:p>
          <a:p>
            <a:r>
              <a:rPr lang="en-IN" sz="2400" dirty="0"/>
              <a:t>dim_hotels.csv</a:t>
            </a:r>
          </a:p>
          <a:p>
            <a:r>
              <a:rPr lang="en-IN" sz="2400" dirty="0"/>
              <a:t>dim_rooms.csv</a:t>
            </a:r>
          </a:p>
          <a:p>
            <a:r>
              <a:rPr lang="en-IN" sz="2400" dirty="0"/>
              <a:t>fact_bookings.csv</a:t>
            </a:r>
          </a:p>
          <a:p>
            <a:r>
              <a:rPr lang="en-IN" sz="2400" dirty="0"/>
              <a:t>fact_aggregated_bookings.csv</a:t>
            </a:r>
          </a:p>
          <a:p>
            <a:pPr marL="0" indent="0">
              <a:buNone/>
            </a:pPr>
            <a:endParaRPr lang="en-AE" sz="2400"/>
          </a:p>
        </p:txBody>
      </p:sp>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351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25D570AD-3619-A7AE-DC50-D1A8E052378E}"/>
              </a:ext>
            </a:extLst>
          </p:cNvPr>
          <p:cNvSpPr>
            <a:spLocks noGrp="1"/>
          </p:cNvSpPr>
          <p:nvPr>
            <p:ph type="title"/>
          </p:nvPr>
        </p:nvSpPr>
        <p:spPr>
          <a:xfrm>
            <a:off x="1179226" y="1280679"/>
            <a:ext cx="9833548" cy="1325563"/>
          </a:xfrm>
        </p:spPr>
        <p:txBody>
          <a:bodyPr anchor="b">
            <a:normAutofit/>
          </a:bodyPr>
          <a:lstStyle/>
          <a:p>
            <a:pPr algn="ctr"/>
            <a:r>
              <a:rPr lang="en-GB" sz="3600">
                <a:solidFill>
                  <a:schemeClr val="tx2"/>
                </a:solidFill>
              </a:rPr>
              <a:t>2.Data Transformation</a:t>
            </a:r>
            <a:endParaRPr lang="en-AE" sz="3600">
              <a:solidFill>
                <a:schemeClr val="tx2"/>
              </a:solidFill>
            </a:endParaRPr>
          </a:p>
        </p:txBody>
      </p:sp>
      <p:grpSp>
        <p:nvGrpSpPr>
          <p:cNvPr id="20" name="Group 19">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1" name="Freeform: Shape 20">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0950D65B-7996-9575-3480-3FD6A9D78A7D}"/>
              </a:ext>
            </a:extLst>
          </p:cNvPr>
          <p:cNvSpPr>
            <a:spLocks noGrp="1"/>
          </p:cNvSpPr>
          <p:nvPr>
            <p:ph idx="1"/>
          </p:nvPr>
        </p:nvSpPr>
        <p:spPr>
          <a:xfrm>
            <a:off x="1179226" y="2890979"/>
            <a:ext cx="9833548" cy="2693976"/>
          </a:xfrm>
        </p:spPr>
        <p:txBody>
          <a:bodyPr>
            <a:normAutofit/>
          </a:bodyPr>
          <a:lstStyle/>
          <a:p>
            <a:r>
              <a:rPr lang="en-GB" sz="1800">
                <a:solidFill>
                  <a:schemeClr val="tx2"/>
                </a:solidFill>
              </a:rPr>
              <a:t>Performed in </a:t>
            </a:r>
            <a:r>
              <a:rPr lang="en-GB" sz="1800" b="1">
                <a:solidFill>
                  <a:schemeClr val="tx2"/>
                </a:solidFill>
              </a:rPr>
              <a:t>Power Query</a:t>
            </a:r>
            <a:r>
              <a:rPr lang="en-GB" sz="1800">
                <a:solidFill>
                  <a:schemeClr val="tx2"/>
                </a:solidFill>
              </a:rPr>
              <a:t>:</a:t>
            </a:r>
          </a:p>
          <a:p>
            <a:r>
              <a:rPr lang="en-GB" sz="1800">
                <a:solidFill>
                  <a:schemeClr val="tx2"/>
                </a:solidFill>
              </a:rPr>
              <a:t>Removed nulls and duplicates</a:t>
            </a:r>
          </a:p>
          <a:p>
            <a:r>
              <a:rPr lang="en-GB" sz="1800">
                <a:solidFill>
                  <a:schemeClr val="tx2"/>
                </a:solidFill>
              </a:rPr>
              <a:t>Standardized data formats</a:t>
            </a:r>
          </a:p>
          <a:p>
            <a:r>
              <a:rPr lang="en-GB" sz="1800">
                <a:solidFill>
                  <a:schemeClr val="tx2"/>
                </a:solidFill>
              </a:rPr>
              <a:t>Merged and appended tables for consolidated analysis</a:t>
            </a:r>
          </a:p>
          <a:p>
            <a:endParaRPr lang="en-AE" sz="1800">
              <a:solidFill>
                <a:schemeClr val="tx2"/>
              </a:solidFill>
            </a:endParaRPr>
          </a:p>
        </p:txBody>
      </p:sp>
      <p:grpSp>
        <p:nvGrpSpPr>
          <p:cNvPr id="26" name="Group 25">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7" name="Freeform: Shape 26">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84761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F5D9B-B9C2-7E71-6F6E-3C288856DE2B}"/>
              </a:ext>
            </a:extLst>
          </p:cNvPr>
          <p:cNvSpPr>
            <a:spLocks noGrp="1"/>
          </p:cNvSpPr>
          <p:nvPr>
            <p:ph type="title"/>
          </p:nvPr>
        </p:nvSpPr>
        <p:spPr>
          <a:xfrm>
            <a:off x="808638" y="386930"/>
            <a:ext cx="9236700" cy="1188950"/>
          </a:xfrm>
        </p:spPr>
        <p:txBody>
          <a:bodyPr anchor="b">
            <a:normAutofit/>
          </a:bodyPr>
          <a:lstStyle/>
          <a:p>
            <a:r>
              <a:rPr lang="en-GB" sz="5400"/>
              <a:t>3.Data Modeling</a:t>
            </a:r>
            <a:endParaRPr lang="en-AE" sz="5400"/>
          </a:p>
        </p:txBody>
      </p:sp>
      <p:grpSp>
        <p:nvGrpSpPr>
          <p:cNvPr id="18" name="Group 17">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9" name="Rectangle 18">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D2E2535-7AD2-DE3A-F703-C9AFB9B12FE6}"/>
              </a:ext>
            </a:extLst>
          </p:cNvPr>
          <p:cNvSpPr>
            <a:spLocks noGrp="1"/>
          </p:cNvSpPr>
          <p:nvPr>
            <p:ph idx="1"/>
          </p:nvPr>
        </p:nvSpPr>
        <p:spPr>
          <a:xfrm>
            <a:off x="793660" y="2599509"/>
            <a:ext cx="10143668" cy="3435531"/>
          </a:xfrm>
        </p:spPr>
        <p:txBody>
          <a:bodyPr anchor="ctr">
            <a:normAutofit/>
          </a:bodyPr>
          <a:lstStyle/>
          <a:p>
            <a:r>
              <a:rPr lang="en-GB" sz="2000"/>
              <a:t>Built a </a:t>
            </a:r>
            <a:r>
              <a:rPr lang="en-GB" sz="2000" b="1"/>
              <a:t>Star Schema</a:t>
            </a:r>
            <a:r>
              <a:rPr lang="en-GB" sz="2000"/>
              <a:t> model to ensure optimized performance and easy DAX calculation.</a:t>
            </a:r>
          </a:p>
          <a:p>
            <a:r>
              <a:rPr lang="en-GB" sz="2000" b="1"/>
              <a:t>Dimension Tables:</a:t>
            </a:r>
            <a:endParaRPr lang="en-GB" sz="2000"/>
          </a:p>
          <a:p>
            <a:r>
              <a:rPr lang="en-GB" sz="2000"/>
              <a:t>dim_hotels: Hotel details (property name, city, category)</a:t>
            </a:r>
          </a:p>
          <a:p>
            <a:r>
              <a:rPr lang="en-GB" sz="2000"/>
              <a:t>dim_rooms: Room details (room class)</a:t>
            </a:r>
          </a:p>
          <a:p>
            <a:r>
              <a:rPr lang="en-GB" sz="2000"/>
              <a:t>dim_date: Date attributes (day type, month, week number)</a:t>
            </a:r>
          </a:p>
          <a:p>
            <a:r>
              <a:rPr lang="en-GB" sz="2000" b="1"/>
              <a:t>Fact Tables:</a:t>
            </a:r>
            <a:endParaRPr lang="en-GB" sz="2000"/>
          </a:p>
          <a:p>
            <a:r>
              <a:rPr lang="en-GB" sz="2000"/>
              <a:t>fact_bookings: Booking-level data (revenue, ratings, guests, booking platform)</a:t>
            </a:r>
          </a:p>
          <a:p>
            <a:r>
              <a:rPr lang="en-GB" sz="2000"/>
              <a:t>fact_aggregated_bookings: Aggregated capacity and successful bookings</a:t>
            </a:r>
          </a:p>
          <a:p>
            <a:endParaRPr lang="en-AE" sz="2000"/>
          </a:p>
        </p:txBody>
      </p:sp>
    </p:spTree>
    <p:extLst>
      <p:ext uri="{BB962C8B-B14F-4D97-AF65-F5344CB8AC3E}">
        <p14:creationId xmlns:p14="http://schemas.microsoft.com/office/powerpoint/2010/main" val="701330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E5BF-F988-1639-260B-6D80E7980F2F}"/>
              </a:ext>
            </a:extLst>
          </p:cNvPr>
          <p:cNvSpPr>
            <a:spLocks noGrp="1"/>
          </p:cNvSpPr>
          <p:nvPr>
            <p:ph type="ctrTitle"/>
          </p:nvPr>
        </p:nvSpPr>
        <p:spPr/>
        <p:txBody>
          <a:bodyPr/>
          <a:lstStyle/>
          <a:p>
            <a:endParaRPr lang="en-AE"/>
          </a:p>
        </p:txBody>
      </p:sp>
      <p:sp>
        <p:nvSpPr>
          <p:cNvPr id="3" name="Subtitle 2">
            <a:extLst>
              <a:ext uri="{FF2B5EF4-FFF2-40B4-BE49-F238E27FC236}">
                <a16:creationId xmlns:a16="http://schemas.microsoft.com/office/drawing/2014/main" id="{B00DC23E-9649-F7E9-AF06-22E6F93847F4}"/>
              </a:ext>
            </a:extLst>
          </p:cNvPr>
          <p:cNvSpPr>
            <a:spLocks noGrp="1"/>
          </p:cNvSpPr>
          <p:nvPr>
            <p:ph type="subTitle" idx="1"/>
          </p:nvPr>
        </p:nvSpPr>
        <p:spPr/>
        <p:txBody>
          <a:bodyPr/>
          <a:lstStyle/>
          <a:p>
            <a:endParaRPr lang="en-AE"/>
          </a:p>
        </p:txBody>
      </p:sp>
      <p:pic>
        <p:nvPicPr>
          <p:cNvPr id="5" name="Picture 4">
            <a:extLst>
              <a:ext uri="{FF2B5EF4-FFF2-40B4-BE49-F238E27FC236}">
                <a16:creationId xmlns:a16="http://schemas.microsoft.com/office/drawing/2014/main" id="{D6C2887F-24C9-EBAE-A72C-909E93C4F7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195" y="283626"/>
            <a:ext cx="9627691" cy="5877775"/>
          </a:xfrm>
          <a:prstGeom prst="rect">
            <a:avLst/>
          </a:prstGeom>
        </p:spPr>
      </p:pic>
    </p:spTree>
    <p:extLst>
      <p:ext uri="{BB962C8B-B14F-4D97-AF65-F5344CB8AC3E}">
        <p14:creationId xmlns:p14="http://schemas.microsoft.com/office/powerpoint/2010/main" val="2879286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86AA2DA-281A-4806-8977-D617AEAC8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4185774-6FC0-4B8D-A8DB-A88546889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59988" y="0"/>
            <a:ext cx="2632012" cy="6858000"/>
          </a:xfrm>
          <a:custGeom>
            <a:avLst/>
            <a:gdLst>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57677 w 2632012"/>
              <a:gd name="connsiteY27" fmla="*/ 2548608 h 6858000"/>
              <a:gd name="connsiteX28" fmla="*/ 399465 w 2632012"/>
              <a:gd name="connsiteY28" fmla="*/ 2412506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399465 w 2632012"/>
              <a:gd name="connsiteY28" fmla="*/ 2412506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219615 w 2632012"/>
              <a:gd name="connsiteY23" fmla="*/ 5557777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08456 w 2632012"/>
              <a:gd name="connsiteY22" fmla="*/ 5878851 h 6858000"/>
              <a:gd name="connsiteX23" fmla="*/ 219615 w 2632012"/>
              <a:gd name="connsiteY23" fmla="*/ 5557777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632012" h="6858000">
                <a:moveTo>
                  <a:pt x="932173" y="1512545"/>
                </a:moveTo>
                <a:lnTo>
                  <a:pt x="932462" y="1512581"/>
                </a:lnTo>
                <a:lnTo>
                  <a:pt x="932378" y="1512599"/>
                </a:lnTo>
                <a:cubicBezTo>
                  <a:pt x="930618" y="1512681"/>
                  <a:pt x="930202" y="1512462"/>
                  <a:pt x="932173" y="1512545"/>
                </a:cubicBezTo>
                <a:close/>
                <a:moveTo>
                  <a:pt x="1207569" y="0"/>
                </a:moveTo>
                <a:lnTo>
                  <a:pt x="2632012" y="0"/>
                </a:lnTo>
                <a:lnTo>
                  <a:pt x="2632012" y="6858000"/>
                </a:lnTo>
                <a:lnTo>
                  <a:pt x="13514" y="6858000"/>
                </a:lnTo>
                <a:cubicBezTo>
                  <a:pt x="13399" y="6842943"/>
                  <a:pt x="13285" y="6827886"/>
                  <a:pt x="13170" y="6812829"/>
                </a:cubicBezTo>
                <a:cubicBezTo>
                  <a:pt x="12714" y="6794763"/>
                  <a:pt x="13524" y="6777517"/>
                  <a:pt x="20332" y="6760689"/>
                </a:cubicBezTo>
                <a:cubicBezTo>
                  <a:pt x="10828" y="6746468"/>
                  <a:pt x="7794" y="6733277"/>
                  <a:pt x="25596" y="6721251"/>
                </a:cubicBezTo>
                <a:cubicBezTo>
                  <a:pt x="24143" y="6683539"/>
                  <a:pt x="1631" y="6673595"/>
                  <a:pt x="22507" y="6650499"/>
                </a:cubicBezTo>
                <a:cubicBezTo>
                  <a:pt x="-25124" y="6620536"/>
                  <a:pt x="16765" y="6629253"/>
                  <a:pt x="22444" y="6604241"/>
                </a:cubicBezTo>
                <a:cubicBezTo>
                  <a:pt x="28668" y="6588866"/>
                  <a:pt x="29169" y="6574778"/>
                  <a:pt x="31867" y="6559984"/>
                </a:cubicBezTo>
                <a:cubicBezTo>
                  <a:pt x="4443" y="6566661"/>
                  <a:pt x="62924" y="6515664"/>
                  <a:pt x="38635" y="6515473"/>
                </a:cubicBezTo>
                <a:cubicBezTo>
                  <a:pt x="72259" y="6495428"/>
                  <a:pt x="29118" y="6488543"/>
                  <a:pt x="38467" y="6463736"/>
                </a:cubicBezTo>
                <a:cubicBezTo>
                  <a:pt x="50944" y="6451623"/>
                  <a:pt x="52742" y="6443270"/>
                  <a:pt x="38052" y="6432794"/>
                </a:cubicBezTo>
                <a:cubicBezTo>
                  <a:pt x="98939" y="6376824"/>
                  <a:pt x="58603" y="6351821"/>
                  <a:pt x="80445" y="6301309"/>
                </a:cubicBezTo>
                <a:cubicBezTo>
                  <a:pt x="103917" y="6257537"/>
                  <a:pt x="78836" y="6301310"/>
                  <a:pt x="138157" y="6257030"/>
                </a:cubicBezTo>
                <a:cubicBezTo>
                  <a:pt x="155187" y="6248574"/>
                  <a:pt x="166108" y="6186701"/>
                  <a:pt x="170419" y="6171255"/>
                </a:cubicBezTo>
                <a:cubicBezTo>
                  <a:pt x="174731" y="6155809"/>
                  <a:pt x="166522" y="6166390"/>
                  <a:pt x="164027" y="6164357"/>
                </a:cubicBezTo>
                <a:cubicBezTo>
                  <a:pt x="206228" y="6137678"/>
                  <a:pt x="184454" y="6121750"/>
                  <a:pt x="213309" y="6109331"/>
                </a:cubicBezTo>
                <a:cubicBezTo>
                  <a:pt x="224262" y="6067371"/>
                  <a:pt x="183175" y="5890445"/>
                  <a:pt x="208456" y="5878851"/>
                </a:cubicBezTo>
                <a:cubicBezTo>
                  <a:pt x="225886" y="5808435"/>
                  <a:pt x="192379" y="5574013"/>
                  <a:pt x="219615" y="5557777"/>
                </a:cubicBezTo>
                <a:lnTo>
                  <a:pt x="245711" y="5066230"/>
                </a:lnTo>
                <a:cubicBezTo>
                  <a:pt x="117719" y="4582016"/>
                  <a:pt x="230524" y="4647254"/>
                  <a:pt x="276721" y="4162848"/>
                </a:cubicBezTo>
                <a:lnTo>
                  <a:pt x="343082" y="3059377"/>
                </a:lnTo>
                <a:cubicBezTo>
                  <a:pt x="347947" y="2889121"/>
                  <a:pt x="364765" y="2862299"/>
                  <a:pt x="369630" y="2692043"/>
                </a:cubicBezTo>
                <a:cubicBezTo>
                  <a:pt x="369393" y="2690043"/>
                  <a:pt x="435560" y="2522082"/>
                  <a:pt x="435324" y="2520083"/>
                </a:cubicBezTo>
                <a:lnTo>
                  <a:pt x="482259" y="2336178"/>
                </a:lnTo>
                <a:cubicBezTo>
                  <a:pt x="516201" y="2267350"/>
                  <a:pt x="537443" y="2148254"/>
                  <a:pt x="569515" y="2091909"/>
                </a:cubicBezTo>
                <a:cubicBezTo>
                  <a:pt x="629286" y="2030534"/>
                  <a:pt x="622061" y="2045605"/>
                  <a:pt x="638163" y="1994147"/>
                </a:cubicBezTo>
                <a:cubicBezTo>
                  <a:pt x="633178" y="1967912"/>
                  <a:pt x="705417" y="1945185"/>
                  <a:pt x="737312" y="1871408"/>
                </a:cubicBezTo>
                <a:cubicBezTo>
                  <a:pt x="759407" y="1814663"/>
                  <a:pt x="795838" y="1856475"/>
                  <a:pt x="788501" y="1793826"/>
                </a:cubicBezTo>
                <a:cubicBezTo>
                  <a:pt x="796402" y="1792725"/>
                  <a:pt x="813276" y="1750182"/>
                  <a:pt x="819432" y="1746824"/>
                </a:cubicBezTo>
                <a:lnTo>
                  <a:pt x="843936" y="1697348"/>
                </a:lnTo>
                <a:cubicBezTo>
                  <a:pt x="847635" y="1681502"/>
                  <a:pt x="845709" y="1667584"/>
                  <a:pt x="846526" y="1659754"/>
                </a:cubicBezTo>
                <a:lnTo>
                  <a:pt x="873830" y="1628041"/>
                </a:lnTo>
                <a:lnTo>
                  <a:pt x="890626" y="1599883"/>
                </a:lnTo>
                <a:lnTo>
                  <a:pt x="921288" y="1579569"/>
                </a:lnTo>
                <a:cubicBezTo>
                  <a:pt x="921111" y="1565502"/>
                  <a:pt x="920933" y="1551436"/>
                  <a:pt x="920756" y="1537369"/>
                </a:cubicBezTo>
                <a:cubicBezTo>
                  <a:pt x="918173" y="1533598"/>
                  <a:pt x="943194" y="1519497"/>
                  <a:pt x="946290" y="1514308"/>
                </a:cubicBezTo>
                <a:lnTo>
                  <a:pt x="932462" y="1512581"/>
                </a:lnTo>
                <a:lnTo>
                  <a:pt x="940652" y="1510839"/>
                </a:lnTo>
                <a:cubicBezTo>
                  <a:pt x="944059" y="1509546"/>
                  <a:pt x="947769" y="1507347"/>
                  <a:pt x="950739" y="1503635"/>
                </a:cubicBezTo>
                <a:lnTo>
                  <a:pt x="966405" y="1439967"/>
                </a:lnTo>
                <a:cubicBezTo>
                  <a:pt x="966567" y="1437915"/>
                  <a:pt x="970755" y="1392639"/>
                  <a:pt x="973516" y="1389073"/>
                </a:cubicBezTo>
                <a:lnTo>
                  <a:pt x="986960" y="1351857"/>
                </a:lnTo>
                <a:lnTo>
                  <a:pt x="987761" y="1363479"/>
                </a:lnTo>
                <a:cubicBezTo>
                  <a:pt x="987046" y="1391389"/>
                  <a:pt x="991418" y="1341827"/>
                  <a:pt x="989043" y="1346093"/>
                </a:cubicBezTo>
                <a:lnTo>
                  <a:pt x="986960" y="1351857"/>
                </a:lnTo>
                <a:lnTo>
                  <a:pt x="985769" y="1334556"/>
                </a:lnTo>
                <a:cubicBezTo>
                  <a:pt x="983992" y="1300062"/>
                  <a:pt x="982872" y="1251835"/>
                  <a:pt x="982507" y="1216698"/>
                </a:cubicBezTo>
                <a:cubicBezTo>
                  <a:pt x="989105" y="1176777"/>
                  <a:pt x="968656" y="1115073"/>
                  <a:pt x="984836" y="1082381"/>
                </a:cubicBezTo>
                <a:cubicBezTo>
                  <a:pt x="976467" y="1067557"/>
                  <a:pt x="974466" y="1054191"/>
                  <a:pt x="993140" y="1043366"/>
                </a:cubicBezTo>
                <a:cubicBezTo>
                  <a:pt x="994613" y="1005627"/>
                  <a:pt x="972947" y="994211"/>
                  <a:pt x="995544" y="972540"/>
                </a:cubicBezTo>
                <a:cubicBezTo>
                  <a:pt x="1001437" y="952637"/>
                  <a:pt x="1021106" y="938879"/>
                  <a:pt x="1028500" y="923945"/>
                </a:cubicBezTo>
                <a:cubicBezTo>
                  <a:pt x="1032923" y="901661"/>
                  <a:pt x="1022511" y="861628"/>
                  <a:pt x="1022082" y="838835"/>
                </a:cubicBezTo>
                <a:cubicBezTo>
                  <a:pt x="1057150" y="821053"/>
                  <a:pt x="1014683" y="811325"/>
                  <a:pt x="1025925" y="787183"/>
                </a:cubicBezTo>
                <a:cubicBezTo>
                  <a:pt x="1039299" y="775919"/>
                  <a:pt x="1041738" y="767701"/>
                  <a:pt x="1027904" y="756272"/>
                </a:cubicBezTo>
                <a:cubicBezTo>
                  <a:pt x="1092931" y="704439"/>
                  <a:pt x="1063111" y="690611"/>
                  <a:pt x="1088796" y="641639"/>
                </a:cubicBezTo>
                <a:cubicBezTo>
                  <a:pt x="1115586" y="599503"/>
                  <a:pt x="1101832" y="585408"/>
                  <a:pt x="1164389" y="545140"/>
                </a:cubicBezTo>
                <a:cubicBezTo>
                  <a:pt x="1183904" y="515341"/>
                  <a:pt x="1212474" y="444932"/>
                  <a:pt x="1225321" y="413843"/>
                </a:cubicBezTo>
                <a:cubicBezTo>
                  <a:pt x="1235550" y="389613"/>
                  <a:pt x="1230254" y="392779"/>
                  <a:pt x="1241477" y="358607"/>
                </a:cubicBezTo>
                <a:cubicBezTo>
                  <a:pt x="1244505" y="325057"/>
                  <a:pt x="1241891" y="287714"/>
                  <a:pt x="1246119" y="254866"/>
                </a:cubicBezTo>
                <a:cubicBezTo>
                  <a:pt x="1250325" y="233178"/>
                  <a:pt x="1255354" y="194919"/>
                  <a:pt x="1266837" y="161517"/>
                </a:cubicBezTo>
                <a:cubicBezTo>
                  <a:pt x="1312077" y="135871"/>
                  <a:pt x="1280314" y="75805"/>
                  <a:pt x="1315021" y="54455"/>
                </a:cubicBezTo>
                <a:cubicBezTo>
                  <a:pt x="1325412" y="38765"/>
                  <a:pt x="1323873" y="23602"/>
                  <a:pt x="1319335" y="8880"/>
                </a:cubicBezTo>
                <a:lnTo>
                  <a:pt x="1316402" y="852"/>
                </a:lnTo>
                <a:lnTo>
                  <a:pt x="1207569"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695AD4-CCD4-CE4E-E7B7-AA077D1BA480}"/>
              </a:ext>
            </a:extLst>
          </p:cNvPr>
          <p:cNvSpPr>
            <a:spLocks noGrp="1"/>
          </p:cNvSpPr>
          <p:nvPr>
            <p:ph type="title"/>
          </p:nvPr>
        </p:nvSpPr>
        <p:spPr>
          <a:xfrm>
            <a:off x="832238" y="227721"/>
            <a:ext cx="9770022" cy="1003205"/>
          </a:xfrm>
        </p:spPr>
        <p:txBody>
          <a:bodyPr>
            <a:normAutofit/>
          </a:bodyPr>
          <a:lstStyle/>
          <a:p>
            <a:r>
              <a:rPr lang="en-GB" dirty="0"/>
              <a:t>4.DAX &amp; Calculated Columns</a:t>
            </a:r>
            <a:endParaRPr lang="en-AE" dirty="0"/>
          </a:p>
        </p:txBody>
      </p:sp>
      <p:sp>
        <p:nvSpPr>
          <p:cNvPr id="3" name="Content Placeholder 2">
            <a:extLst>
              <a:ext uri="{FF2B5EF4-FFF2-40B4-BE49-F238E27FC236}">
                <a16:creationId xmlns:a16="http://schemas.microsoft.com/office/drawing/2014/main" id="{504772ED-9296-92A5-7047-929AA6E48796}"/>
              </a:ext>
            </a:extLst>
          </p:cNvPr>
          <p:cNvSpPr>
            <a:spLocks noGrp="1"/>
          </p:cNvSpPr>
          <p:nvPr>
            <p:ph idx="1"/>
          </p:nvPr>
        </p:nvSpPr>
        <p:spPr>
          <a:xfrm>
            <a:off x="283029" y="979714"/>
            <a:ext cx="6804979" cy="5617030"/>
          </a:xfrm>
        </p:spPr>
        <p:txBody>
          <a:bodyPr>
            <a:normAutofit lnSpcReduction="10000"/>
          </a:bodyPr>
          <a:lstStyle/>
          <a:p>
            <a:r>
              <a:rPr lang="en-GB" sz="1600" dirty="0"/>
              <a:t>Key measures created using </a:t>
            </a:r>
            <a:r>
              <a:rPr lang="en-GB" sz="1600" b="1" dirty="0"/>
              <a:t>DAX</a:t>
            </a:r>
            <a:r>
              <a:rPr lang="en-GB" sz="1600" dirty="0"/>
              <a:t>:</a:t>
            </a:r>
          </a:p>
          <a:p>
            <a:r>
              <a:rPr lang="en-GB" sz="1600" dirty="0"/>
              <a:t>ADR (Average Daily Rate)-Measures the average revenue earned per booked room during a specific time period.</a:t>
            </a:r>
          </a:p>
          <a:p>
            <a:r>
              <a:rPr lang="en-GB" sz="1600" dirty="0"/>
              <a:t>DSRN (Daily Successful Room Nights)-Indicates the average number of rooms available for sale per day during a given period.</a:t>
            </a:r>
          </a:p>
          <a:p>
            <a:r>
              <a:rPr lang="en-GB" sz="1600" dirty="0"/>
              <a:t>DBRN (Daily Booked Room Nights)-Represents the average number of rooms booked per day over a specific time period.</a:t>
            </a:r>
          </a:p>
          <a:p>
            <a:r>
              <a:rPr lang="en-GB" sz="1600" dirty="0"/>
              <a:t>DURN (Daily Utilized Room Nights)-Shows the average number of rooms successfully utilized by customers per day.</a:t>
            </a:r>
          </a:p>
          <a:p>
            <a:r>
              <a:rPr lang="en-GB" sz="1600" dirty="0"/>
              <a:t>RevPAR (Revenue per Available Room)-Measures the revenue generated per available room and helps evaluate overall hotel revenue performance.</a:t>
            </a:r>
          </a:p>
          <a:p>
            <a:r>
              <a:rPr lang="en-GB" sz="1600" dirty="0"/>
              <a:t>Occupancy %-– Indicates the percentage of available rooms occupied by customers during a given period</a:t>
            </a:r>
          </a:p>
          <a:p>
            <a:r>
              <a:rPr lang="en-GB" sz="1600" dirty="0"/>
              <a:t>Realisation %-Represents the percentage of successful check-outs compared to total bookings made.</a:t>
            </a:r>
          </a:p>
          <a:p>
            <a:r>
              <a:rPr lang="en-GB" sz="1600" dirty="0"/>
              <a:t>Cancellation %-Shows the percentage of bookings </a:t>
            </a:r>
            <a:r>
              <a:rPr lang="en-GB" sz="1600" dirty="0" err="1"/>
              <a:t>canceled</a:t>
            </a:r>
            <a:r>
              <a:rPr lang="en-GB" sz="1600" dirty="0"/>
              <a:t> out of the total bookings received.</a:t>
            </a:r>
          </a:p>
          <a:p>
            <a:r>
              <a:rPr lang="en-GB" sz="1600" dirty="0"/>
              <a:t>No Show Rate %-Indicates the percentage of customers who booked rooms but did not check in.</a:t>
            </a:r>
          </a:p>
          <a:p>
            <a:endParaRPr lang="en-AE" sz="1000" dirty="0"/>
          </a:p>
        </p:txBody>
      </p:sp>
      <p:sp>
        <p:nvSpPr>
          <p:cNvPr id="35" name="Freeform: Shape 34">
            <a:extLst>
              <a:ext uri="{FF2B5EF4-FFF2-40B4-BE49-F238E27FC236}">
                <a16:creationId xmlns:a16="http://schemas.microsoft.com/office/drawing/2014/main" id="{B7D3B4FC-79F4-47D2-9D79-DA876E6AD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0496" y="2022496"/>
            <a:ext cx="3795039" cy="4043934"/>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2" name="Graphic 21" descr="Statistics">
            <a:extLst>
              <a:ext uri="{FF2B5EF4-FFF2-40B4-BE49-F238E27FC236}">
                <a16:creationId xmlns:a16="http://schemas.microsoft.com/office/drawing/2014/main" id="{63D44765-7085-145E-211B-2FC92B9DF0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91362" y="2308377"/>
            <a:ext cx="3482910" cy="3482910"/>
          </a:xfrm>
          <a:prstGeom prst="rect">
            <a:avLst/>
          </a:prstGeom>
        </p:spPr>
      </p:pic>
      <p:sp>
        <p:nvSpPr>
          <p:cNvPr id="37" name="Rectangle 6">
            <a:extLst>
              <a:ext uri="{FF2B5EF4-FFF2-40B4-BE49-F238E27FC236}">
                <a16:creationId xmlns:a16="http://schemas.microsoft.com/office/drawing/2014/main" id="{2775D660-3127-4688-9782-F7C4639B1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2788" y="5952857"/>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50157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D293F3-7B90-432A-744D-D9A841D891F6}"/>
              </a:ext>
            </a:extLst>
          </p:cNvPr>
          <p:cNvSpPr>
            <a:spLocks noGrp="1"/>
          </p:cNvSpPr>
          <p:nvPr>
            <p:ph type="title"/>
          </p:nvPr>
        </p:nvSpPr>
        <p:spPr>
          <a:xfrm>
            <a:off x="761803" y="350196"/>
            <a:ext cx="4646904" cy="1624520"/>
          </a:xfrm>
        </p:spPr>
        <p:txBody>
          <a:bodyPr anchor="ctr">
            <a:normAutofit/>
          </a:bodyPr>
          <a:lstStyle/>
          <a:p>
            <a:r>
              <a:rPr lang="en-GB" sz="4000"/>
              <a:t>5.Dashboard development</a:t>
            </a:r>
            <a:endParaRPr lang="en-AE" sz="4000"/>
          </a:p>
        </p:txBody>
      </p:sp>
      <p:sp>
        <p:nvSpPr>
          <p:cNvPr id="3" name="Content Placeholder 2">
            <a:extLst>
              <a:ext uri="{FF2B5EF4-FFF2-40B4-BE49-F238E27FC236}">
                <a16:creationId xmlns:a16="http://schemas.microsoft.com/office/drawing/2014/main" id="{F25138D2-044B-76C9-07B4-9998845F4384}"/>
              </a:ext>
            </a:extLst>
          </p:cNvPr>
          <p:cNvSpPr>
            <a:spLocks noGrp="1"/>
          </p:cNvSpPr>
          <p:nvPr>
            <p:ph idx="1"/>
          </p:nvPr>
        </p:nvSpPr>
        <p:spPr>
          <a:xfrm>
            <a:off x="761802" y="2743200"/>
            <a:ext cx="4646905" cy="3613149"/>
          </a:xfrm>
        </p:spPr>
        <p:txBody>
          <a:bodyPr anchor="ctr">
            <a:normAutofit/>
          </a:bodyPr>
          <a:lstStyle/>
          <a:p>
            <a:r>
              <a:rPr lang="en-GB" sz="2000" dirty="0"/>
              <a:t>An </a:t>
            </a:r>
            <a:r>
              <a:rPr lang="en-GB" sz="2000" b="1" dirty="0"/>
              <a:t>interactive Power BI dashboard</a:t>
            </a:r>
            <a:r>
              <a:rPr lang="en-GB" sz="2000" dirty="0"/>
              <a:t> was built with navigation, filters, and tooltips for seamless exploration.</a:t>
            </a:r>
          </a:p>
          <a:p>
            <a:r>
              <a:rPr lang="en-GB" sz="2000" dirty="0"/>
              <a:t>Structured the dashboard into three key views—Executive View, Revenue Insights, and Booking Insights—where the Executive View provides a high-level KPI summary, Revenue Insights focuses on performance trends and Booking Insights </a:t>
            </a:r>
            <a:r>
              <a:rPr lang="en-GB" sz="2000" dirty="0" err="1"/>
              <a:t>analyzes</a:t>
            </a:r>
            <a:r>
              <a:rPr lang="en-GB" sz="2000" dirty="0"/>
              <a:t> occupancy patterns and booking </a:t>
            </a:r>
            <a:r>
              <a:rPr lang="en-GB" sz="2000" dirty="0" err="1"/>
              <a:t>behavior</a:t>
            </a:r>
            <a:r>
              <a:rPr lang="en-GB" sz="2000" dirty="0"/>
              <a:t>.</a:t>
            </a:r>
            <a:endParaRPr lang="en-AE" sz="2000" dirty="0"/>
          </a:p>
        </p:txBody>
      </p:sp>
      <p:pic>
        <p:nvPicPr>
          <p:cNvPr id="5" name="Picture 4" descr="Financial graphs on a dark display">
            <a:extLst>
              <a:ext uri="{FF2B5EF4-FFF2-40B4-BE49-F238E27FC236}">
                <a16:creationId xmlns:a16="http://schemas.microsoft.com/office/drawing/2014/main" id="{C8E0E1DA-4EE8-0146-59E8-B5B85239B1E0}"/>
              </a:ext>
            </a:extLst>
          </p:cNvPr>
          <p:cNvPicPr>
            <a:picLocks noChangeAspect="1"/>
          </p:cNvPicPr>
          <p:nvPr/>
        </p:nvPicPr>
        <p:blipFill>
          <a:blip r:embed="rId3"/>
          <a:srcRect l="19287" r="25095"/>
          <a:stretch>
            <a:fillRect/>
          </a:stretch>
        </p:blipFill>
        <p:spPr>
          <a:xfrm>
            <a:off x="6096000" y="1"/>
            <a:ext cx="6102825" cy="6858000"/>
          </a:xfrm>
          <a:prstGeom prst="rect">
            <a:avLst/>
          </a:prstGeom>
        </p:spPr>
      </p:pic>
    </p:spTree>
    <p:extLst>
      <p:ext uri="{BB962C8B-B14F-4D97-AF65-F5344CB8AC3E}">
        <p14:creationId xmlns:p14="http://schemas.microsoft.com/office/powerpoint/2010/main" val="685379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F107CA-A65E-03F4-2283-3F17B9616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271" y="210370"/>
            <a:ext cx="10243457" cy="6437259"/>
          </a:xfrm>
          <a:prstGeom prst="rect">
            <a:avLst/>
          </a:prstGeom>
        </p:spPr>
      </p:pic>
    </p:spTree>
    <p:extLst>
      <p:ext uri="{BB962C8B-B14F-4D97-AF65-F5344CB8AC3E}">
        <p14:creationId xmlns:p14="http://schemas.microsoft.com/office/powerpoint/2010/main" val="3257660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FB73F7A-3D25-3A3F-6524-2429961AF96D}"/>
              </a:ext>
            </a:extLst>
          </p:cNvPr>
          <p:cNvSpPr>
            <a:spLocks noGrp="1"/>
          </p:cNvSpPr>
          <p:nvPr>
            <p:ph idx="1"/>
          </p:nvPr>
        </p:nvSpPr>
        <p:spPr>
          <a:xfrm>
            <a:off x="3050412" y="1621971"/>
            <a:ext cx="8259845" cy="2329543"/>
          </a:xfrm>
        </p:spPr>
        <p:txBody>
          <a:bodyPr anchor="t">
            <a:normAutofit/>
          </a:bodyPr>
          <a:lstStyle/>
          <a:p>
            <a:r>
              <a:rPr lang="en-GB" sz="4000" dirty="0">
                <a:solidFill>
                  <a:schemeClr val="tx2"/>
                </a:solidFill>
                <a:hlinkClick r:id="rId2"/>
              </a:rPr>
              <a:t>Click here to view the dashboard</a:t>
            </a:r>
            <a:endParaRPr lang="en-AE" sz="4000" dirty="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584962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Freeform: Shape 10">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4" name="Freeform: Shape 13">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2CE2831E-1B03-A473-A297-FFB095EE38AA}"/>
              </a:ext>
            </a:extLst>
          </p:cNvPr>
          <p:cNvSpPr>
            <a:spLocks noGrp="1"/>
          </p:cNvSpPr>
          <p:nvPr>
            <p:ph type="title"/>
          </p:nvPr>
        </p:nvSpPr>
        <p:spPr>
          <a:xfrm>
            <a:off x="3502731" y="1262743"/>
            <a:ext cx="6204882" cy="2667577"/>
          </a:xfrm>
        </p:spPr>
        <p:txBody>
          <a:bodyPr vert="horz" lIns="91440" tIns="45720" rIns="91440" bIns="45720" rtlCol="0" anchor="b">
            <a:normAutofit/>
          </a:bodyPr>
          <a:lstStyle/>
          <a:p>
            <a:pPr algn="ctr"/>
            <a:r>
              <a:rPr lang="en-US" sz="6000" kern="1200" dirty="0">
                <a:solidFill>
                  <a:schemeClr val="tx2"/>
                </a:solidFill>
                <a:latin typeface="+mj-lt"/>
                <a:ea typeface="+mj-ea"/>
                <a:cs typeface="+mj-cs"/>
              </a:rPr>
              <a:t>Insights</a:t>
            </a:r>
          </a:p>
        </p:txBody>
      </p:sp>
      <p:grpSp>
        <p:nvGrpSpPr>
          <p:cNvPr id="22" name="Group 21">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3" name="Freeform: Shape 22">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29" name="Freeform: Shape 28">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338255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74711D-1704-D484-C203-DFB881EEE0D0}"/>
              </a:ext>
            </a:extLst>
          </p:cNvPr>
          <p:cNvSpPr>
            <a:spLocks noGrp="1"/>
          </p:cNvSpPr>
          <p:nvPr>
            <p:ph type="title"/>
          </p:nvPr>
        </p:nvSpPr>
        <p:spPr>
          <a:xfrm>
            <a:off x="838200" y="365125"/>
            <a:ext cx="5558489" cy="1325563"/>
          </a:xfrm>
        </p:spPr>
        <p:txBody>
          <a:bodyPr>
            <a:normAutofit/>
          </a:bodyPr>
          <a:lstStyle/>
          <a:p>
            <a:r>
              <a:rPr lang="en-GB"/>
              <a:t>Executive View</a:t>
            </a:r>
            <a:endParaRPr lang="en-AE"/>
          </a:p>
        </p:txBody>
      </p:sp>
      <p:sp>
        <p:nvSpPr>
          <p:cNvPr id="29" name="Freeform: Shape 28">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61908A2-EB71-A5E3-AFE8-93015B944E8C}"/>
              </a:ext>
            </a:extLst>
          </p:cNvPr>
          <p:cNvSpPr>
            <a:spLocks noGrp="1"/>
          </p:cNvSpPr>
          <p:nvPr>
            <p:ph idx="1"/>
          </p:nvPr>
        </p:nvSpPr>
        <p:spPr>
          <a:xfrm>
            <a:off x="211016" y="1825624"/>
            <a:ext cx="6185674" cy="4836433"/>
          </a:xfrm>
        </p:spPr>
        <p:txBody>
          <a:bodyPr>
            <a:normAutofit/>
          </a:bodyPr>
          <a:lstStyle/>
          <a:p>
            <a:r>
              <a:rPr lang="en-GB" sz="1400" dirty="0"/>
              <a:t>Delhi achieved the highest average customer rating (~3.8) and occupancy rate (~60%), indicating strong customer satisfaction and booking efficiency.</a:t>
            </a:r>
          </a:p>
          <a:p>
            <a:r>
              <a:rPr lang="en-GB" sz="1400" dirty="0"/>
              <a:t>Bangalore recorded the lowest occupancy (~55.8%) and average rating (~3.4), highlighting the need for service and demand improvement.</a:t>
            </a:r>
          </a:p>
          <a:p>
            <a:r>
              <a:rPr lang="en-GB" sz="1400" dirty="0"/>
              <a:t>Weekend occupancy (~52.8%) was higher than weekday occupancy (~47.2%), showing stronger leisure travel demand during weekends.</a:t>
            </a:r>
          </a:p>
          <a:p>
            <a:r>
              <a:rPr lang="en-GB" sz="1400" dirty="0" err="1"/>
              <a:t>AtliQ</a:t>
            </a:r>
            <a:r>
              <a:rPr lang="en-GB" sz="1400" dirty="0"/>
              <a:t> Exotica generated the highest revenue (~212M) with strong occupancy performance among all properties.</a:t>
            </a:r>
          </a:p>
          <a:p>
            <a:r>
              <a:rPr lang="en-GB" sz="1400" dirty="0"/>
              <a:t> Several Bangalore and Hyderabad properties reported higher cancellation rates (~25–26%), negatively affecting realized revenue.</a:t>
            </a:r>
          </a:p>
          <a:p>
            <a:r>
              <a:rPr lang="en-GB" sz="1400" dirty="0"/>
              <a:t>Revenue realization remained stable around ~70%, reflecting effective conversion of bookings into revenue despite cancellations. </a:t>
            </a:r>
          </a:p>
          <a:p>
            <a:r>
              <a:rPr lang="en-GB" sz="1400" dirty="0"/>
              <a:t>Occupancy peaked during Week 32 (~65%), while Weeks 29–30 showed noticeable dips close to ~50%.</a:t>
            </a:r>
          </a:p>
          <a:p>
            <a:r>
              <a:rPr lang="en-GB" sz="1400" dirty="0"/>
              <a:t>Properties with higher occupancy did not always generate the highest revenue, indicating differences in pricing strategy and ADR across locations.</a:t>
            </a:r>
            <a:endParaRPr lang="en-AE" sz="1400" dirty="0"/>
          </a:p>
        </p:txBody>
      </p:sp>
      <p:sp>
        <p:nvSpPr>
          <p:cNvPr id="31" name="Oval 30">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Block Arc 32">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Freeform: Shape 34">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7" name="Straight Connector 36">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9" name="Freeform: Shape 38">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1" name="Arc 40">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6229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Triangle 3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1EA2B-3188-D9CD-D02E-63FFA0491213}"/>
              </a:ext>
            </a:extLst>
          </p:cNvPr>
          <p:cNvSpPr>
            <a:spLocks noGrp="1"/>
          </p:cNvSpPr>
          <p:nvPr>
            <p:ph type="title"/>
          </p:nvPr>
        </p:nvSpPr>
        <p:spPr>
          <a:xfrm>
            <a:off x="1285240" y="1050595"/>
            <a:ext cx="7898953" cy="1146335"/>
          </a:xfrm>
        </p:spPr>
        <p:txBody>
          <a:bodyPr anchor="ctr">
            <a:normAutofit/>
          </a:bodyPr>
          <a:lstStyle/>
          <a:p>
            <a:r>
              <a:rPr lang="en-GB" sz="7200" dirty="0"/>
              <a:t>Revenue Insights</a:t>
            </a:r>
            <a:endParaRPr lang="en-AE" sz="7200" dirty="0"/>
          </a:p>
        </p:txBody>
      </p:sp>
      <p:sp>
        <p:nvSpPr>
          <p:cNvPr id="3" name="Content Placeholder 2">
            <a:extLst>
              <a:ext uri="{FF2B5EF4-FFF2-40B4-BE49-F238E27FC236}">
                <a16:creationId xmlns:a16="http://schemas.microsoft.com/office/drawing/2014/main" id="{ABE21AD4-4FE4-A37D-E8EA-A330CB0C8DC3}"/>
              </a:ext>
            </a:extLst>
          </p:cNvPr>
          <p:cNvSpPr>
            <a:spLocks noGrp="1"/>
          </p:cNvSpPr>
          <p:nvPr>
            <p:ph idx="1"/>
          </p:nvPr>
        </p:nvSpPr>
        <p:spPr>
          <a:xfrm>
            <a:off x="864158" y="2196930"/>
            <a:ext cx="9073662" cy="4143579"/>
          </a:xfrm>
        </p:spPr>
        <p:txBody>
          <a:bodyPr anchor="t">
            <a:noAutofit/>
          </a:bodyPr>
          <a:lstStyle/>
          <a:p>
            <a:pPr marL="0" indent="0">
              <a:buNone/>
            </a:pPr>
            <a:r>
              <a:rPr lang="en-GB" sz="1400" dirty="0"/>
              <a:t>• Mumbai generated the highest revenue (~669M), followed by Bangalore (~420M), making them the top revenue-contributing cities.</a:t>
            </a:r>
          </a:p>
          <a:p>
            <a:pPr marL="0" indent="0">
              <a:buNone/>
            </a:pPr>
            <a:r>
              <a:rPr lang="en-GB" sz="1400" dirty="0"/>
              <a:t>• Revenue remained stable between Weeks 19–31 (~115M–140M) before dropping sharply in Week 32 (~27M).</a:t>
            </a:r>
          </a:p>
          <a:p>
            <a:pPr marL="0" indent="0">
              <a:buNone/>
            </a:pPr>
            <a:r>
              <a:rPr lang="en-GB" sz="1400" dirty="0"/>
              <a:t>• Week 22 recorded the highest weekly revenue (~139M), indicating peak booking demand during that period.</a:t>
            </a:r>
          </a:p>
          <a:p>
            <a:pPr marL="0" indent="0">
              <a:buNone/>
            </a:pPr>
            <a:r>
              <a:rPr lang="en-GB" sz="1400" dirty="0"/>
              <a:t>• Business category rooms generated significantly higher revenue (~1053M) compared to luxury category rooms (~656M).</a:t>
            </a:r>
          </a:p>
          <a:p>
            <a:pPr marL="0" indent="0">
              <a:buNone/>
            </a:pPr>
            <a:r>
              <a:rPr lang="en-GB" sz="1400" dirty="0"/>
              <a:t>• Weekday bookings contributed nearly 70% of total revenue (~1185M), reflecting strong business and corporate travel demand.</a:t>
            </a:r>
          </a:p>
          <a:p>
            <a:pPr marL="0" indent="0">
              <a:buNone/>
            </a:pPr>
            <a:r>
              <a:rPr lang="en-GB" sz="1400" dirty="0"/>
              <a:t>• The “Others” booking platform contributed the highest revenue (~699M), showing heavy dependence on third-party booking channels.</a:t>
            </a:r>
          </a:p>
          <a:p>
            <a:pPr marL="0" indent="0">
              <a:buNone/>
            </a:pPr>
            <a:r>
              <a:rPr lang="en-GB" sz="1400" dirty="0"/>
              <a:t>• Direct online and offline channels generated comparatively lower revenue, highlighting opportunities to improve direct bookings.</a:t>
            </a:r>
          </a:p>
          <a:p>
            <a:pPr marL="0" indent="0">
              <a:buNone/>
            </a:pPr>
            <a:r>
              <a:rPr lang="en-GB" sz="1400" dirty="0"/>
              <a:t>• ADR remained stable around ~12K–13K across most weeks, while occupancy fluctuations impacted RevPAR performance.</a:t>
            </a:r>
          </a:p>
          <a:p>
            <a:pPr marL="0" indent="0">
              <a:buNone/>
            </a:pPr>
            <a:r>
              <a:rPr lang="en-GB" sz="1400" dirty="0"/>
              <a:t>• </a:t>
            </a:r>
            <a:r>
              <a:rPr lang="en-GB" sz="1400" dirty="0" err="1"/>
              <a:t>AtliQ</a:t>
            </a:r>
            <a:r>
              <a:rPr lang="en-GB" sz="1400" dirty="0"/>
              <a:t> Exotica, </a:t>
            </a:r>
            <a:r>
              <a:rPr lang="en-GB" sz="1400" dirty="0" err="1"/>
              <a:t>AtliQ</a:t>
            </a:r>
            <a:r>
              <a:rPr lang="en-GB" sz="1400" dirty="0"/>
              <a:t> Palace, and </a:t>
            </a:r>
            <a:r>
              <a:rPr lang="en-GB" sz="1400" dirty="0" err="1"/>
              <a:t>AtliQ</a:t>
            </a:r>
            <a:r>
              <a:rPr lang="en-GB" sz="1400" dirty="0"/>
              <a:t> City emerged as the top 3 revenue-generating properties.</a:t>
            </a:r>
            <a:endParaRPr lang="en-AE" sz="1400" dirty="0"/>
          </a:p>
        </p:txBody>
      </p:sp>
    </p:spTree>
    <p:extLst>
      <p:ext uri="{BB962C8B-B14F-4D97-AF65-F5344CB8AC3E}">
        <p14:creationId xmlns:p14="http://schemas.microsoft.com/office/powerpoint/2010/main" val="1990657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BE4D73-CF87-E920-A847-4F5B57447A87}"/>
              </a:ext>
            </a:extLst>
          </p:cNvPr>
          <p:cNvSpPr>
            <a:spLocks noGrp="1"/>
          </p:cNvSpPr>
          <p:nvPr>
            <p:ph type="title"/>
          </p:nvPr>
        </p:nvSpPr>
        <p:spPr>
          <a:xfrm>
            <a:off x="1171074" y="1396686"/>
            <a:ext cx="3240506" cy="4064628"/>
          </a:xfrm>
        </p:spPr>
        <p:txBody>
          <a:bodyPr>
            <a:normAutofit/>
          </a:bodyPr>
          <a:lstStyle/>
          <a:p>
            <a:r>
              <a:rPr lang="en-GB">
                <a:solidFill>
                  <a:srgbClr val="FFFFFF"/>
                </a:solidFill>
              </a:rPr>
              <a:t>Booking Insights</a:t>
            </a:r>
            <a:endParaRPr lang="en-AE">
              <a:solidFill>
                <a:srgbClr val="FFFFFF"/>
              </a:solidFill>
            </a:endParaRPr>
          </a:p>
        </p:txBody>
      </p:sp>
      <p:sp>
        <p:nvSpPr>
          <p:cNvPr id="40" name="Arc 3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2" name="Oval 4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282E780-156F-DFDB-F218-12EAB0247CDA}"/>
              </a:ext>
            </a:extLst>
          </p:cNvPr>
          <p:cNvSpPr>
            <a:spLocks noGrp="1"/>
          </p:cNvSpPr>
          <p:nvPr>
            <p:ph idx="1"/>
          </p:nvPr>
        </p:nvSpPr>
        <p:spPr>
          <a:xfrm>
            <a:off x="5024990" y="180870"/>
            <a:ext cx="6677821" cy="5280444"/>
          </a:xfrm>
        </p:spPr>
        <p:txBody>
          <a:bodyPr>
            <a:normAutofit/>
          </a:bodyPr>
          <a:lstStyle/>
          <a:p>
            <a:pPr marL="0" indent="0">
              <a:buNone/>
            </a:pPr>
            <a:r>
              <a:rPr lang="en-GB" sz="1400" dirty="0"/>
              <a:t>• Mumbai contributed the highest total bookings (~43K), significantly outperforming Hyderabad, Bangalore, and Delhi.</a:t>
            </a:r>
          </a:p>
          <a:p>
            <a:pPr marL="0" indent="0">
              <a:buNone/>
            </a:pPr>
            <a:r>
              <a:rPr lang="en-GB" sz="1400" dirty="0"/>
              <a:t>• Business category bookings (~84K) were higher than luxury bookings (~51K), indicating stronger demand from business </a:t>
            </a:r>
            <a:r>
              <a:rPr lang="en-GB" sz="1400" dirty="0" err="1"/>
              <a:t>travelers</a:t>
            </a:r>
            <a:r>
              <a:rPr lang="en-GB" sz="1400" dirty="0"/>
              <a:t>.</a:t>
            </a:r>
          </a:p>
          <a:p>
            <a:pPr marL="0" indent="0">
              <a:buNone/>
            </a:pPr>
            <a:r>
              <a:rPr lang="en-GB" sz="1400" dirty="0"/>
              <a:t>• Total successful bookings remained consistently between ~9K–11K across most weeks before dropping sharply in Week 32.</a:t>
            </a:r>
          </a:p>
          <a:p>
            <a:pPr marL="0" indent="0">
              <a:buNone/>
            </a:pPr>
            <a:r>
              <a:rPr lang="en-GB" sz="1400" dirty="0"/>
              <a:t>• Cancellation volume remained stable but continued to impact occupancy and revenue realization.</a:t>
            </a:r>
          </a:p>
          <a:p>
            <a:pPr marL="0" indent="0">
              <a:buNone/>
            </a:pPr>
            <a:r>
              <a:rPr lang="en-GB" sz="1400" dirty="0"/>
              <a:t>• The “Others” platform accounted for ~40% of total bookings, showing strong reliance on third-party booking platforms.</a:t>
            </a:r>
          </a:p>
          <a:p>
            <a:pPr marL="0" indent="0">
              <a:buNone/>
            </a:pPr>
            <a:r>
              <a:rPr lang="en-GB" sz="1400" dirty="0"/>
              <a:t>• Direct booking platforms contributed less than 15% combined, highlighting opportunities to improve brand-owned booking channels.</a:t>
            </a:r>
          </a:p>
          <a:p>
            <a:pPr marL="0" indent="0">
              <a:buNone/>
            </a:pPr>
            <a:r>
              <a:rPr lang="en-GB" sz="1400" dirty="0"/>
              <a:t>• Occupancy across all room classes remained balanced between ~57%–59%, with Premium and Elite categories performing slightly better.</a:t>
            </a:r>
          </a:p>
          <a:p>
            <a:pPr marL="0" indent="0">
              <a:buNone/>
            </a:pPr>
            <a:r>
              <a:rPr lang="en-GB" sz="1400" dirty="0"/>
              <a:t>• </a:t>
            </a:r>
            <a:r>
              <a:rPr lang="en-GB" sz="1400" dirty="0" err="1"/>
              <a:t>AtliQ</a:t>
            </a:r>
            <a:r>
              <a:rPr lang="en-GB" sz="1400" dirty="0"/>
              <a:t> Blu Mumbai recorded one of the highest occupancy rates (~66%), while </a:t>
            </a:r>
            <a:r>
              <a:rPr lang="en-GB" sz="1400" dirty="0" err="1"/>
              <a:t>AtliQ</a:t>
            </a:r>
            <a:r>
              <a:rPr lang="en-GB" sz="1400" dirty="0"/>
              <a:t> Grands Bangalore showed the lowest (~44%).</a:t>
            </a:r>
          </a:p>
          <a:p>
            <a:pPr marL="0" indent="0">
              <a:buNone/>
            </a:pPr>
            <a:r>
              <a:rPr lang="en-GB" sz="1400" dirty="0"/>
              <a:t>• Several properties maintained high booking volumes despite higher cancellation rates (~24–26%), indicating strong demand but lower booking retention.</a:t>
            </a:r>
          </a:p>
          <a:p>
            <a:pPr marL="0" indent="0">
              <a:buNone/>
            </a:pPr>
            <a:r>
              <a:rPr lang="en-GB" sz="1400" dirty="0"/>
              <a:t>• No-show rates remained consistently low ,reflecting efficient reservation management.</a:t>
            </a:r>
            <a:endParaRPr lang="en-AE" sz="1400" dirty="0"/>
          </a:p>
        </p:txBody>
      </p:sp>
    </p:spTree>
    <p:extLst>
      <p:ext uri="{BB962C8B-B14F-4D97-AF65-F5344CB8AC3E}">
        <p14:creationId xmlns:p14="http://schemas.microsoft.com/office/powerpoint/2010/main" val="516817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16CCAF-B701-908D-6BD5-EED09EF91DF0}"/>
              </a:ext>
            </a:extLst>
          </p:cNvPr>
          <p:cNvSpPr>
            <a:spLocks noGrp="1"/>
          </p:cNvSpPr>
          <p:nvPr>
            <p:ph type="title"/>
          </p:nvPr>
        </p:nvSpPr>
        <p:spPr>
          <a:xfrm>
            <a:off x="550786" y="239487"/>
            <a:ext cx="4955712" cy="1090322"/>
          </a:xfrm>
        </p:spPr>
        <p:txBody>
          <a:bodyPr anchor="ctr">
            <a:normAutofit/>
          </a:bodyPr>
          <a:lstStyle/>
          <a:p>
            <a:r>
              <a:rPr lang="en-GB" sz="4000" dirty="0"/>
              <a:t>Recommendations</a:t>
            </a:r>
            <a:endParaRPr lang="en-AE" sz="4000" dirty="0"/>
          </a:p>
        </p:txBody>
      </p:sp>
      <p:sp>
        <p:nvSpPr>
          <p:cNvPr id="3" name="Content Placeholder 2">
            <a:extLst>
              <a:ext uri="{FF2B5EF4-FFF2-40B4-BE49-F238E27FC236}">
                <a16:creationId xmlns:a16="http://schemas.microsoft.com/office/drawing/2014/main" id="{F132732B-B514-C3E8-CD83-32002A8C9021}"/>
              </a:ext>
            </a:extLst>
          </p:cNvPr>
          <p:cNvSpPr>
            <a:spLocks noGrp="1"/>
          </p:cNvSpPr>
          <p:nvPr>
            <p:ph idx="1"/>
          </p:nvPr>
        </p:nvSpPr>
        <p:spPr>
          <a:xfrm>
            <a:off x="211016" y="1145512"/>
            <a:ext cx="6290268" cy="5375868"/>
          </a:xfrm>
        </p:spPr>
        <p:txBody>
          <a:bodyPr anchor="ctr">
            <a:normAutofit/>
          </a:bodyPr>
          <a:lstStyle/>
          <a:p>
            <a:r>
              <a:rPr lang="en-GB" sz="1400" dirty="0"/>
              <a:t>Focus promotional campaigns in Delhi to improve booking volume and market performance.</a:t>
            </a:r>
          </a:p>
          <a:p>
            <a:r>
              <a:rPr lang="en-GB" sz="1400" dirty="0"/>
              <a:t>Strengthen partnerships with high-performing third-party platforms while encouraging more direct bookings to improve profitability.</a:t>
            </a:r>
          </a:p>
          <a:p>
            <a:r>
              <a:rPr lang="en-GB" sz="1400" dirty="0"/>
              <a:t> Introduce targeted offers during low-performing weeks to reduce seasonal revenue fluctuations.</a:t>
            </a:r>
          </a:p>
          <a:p>
            <a:r>
              <a:rPr lang="en-GB" sz="1400" dirty="0"/>
              <a:t> Improve customer experience and service quality in lower-rated cities to enhance guest satisfaction and occupancy.</a:t>
            </a:r>
          </a:p>
          <a:p>
            <a:r>
              <a:rPr lang="en-GB" sz="1400" dirty="0"/>
              <a:t> Expand and prioritize Luxury and premium room offerings, as they contribute the highest share of revenue and bookings.</a:t>
            </a:r>
          </a:p>
          <a:p>
            <a:r>
              <a:rPr lang="en-GB" sz="1400" dirty="0"/>
              <a:t> Implement strategies to reduce cancellation rates, such as flexible pricing, loyalty benefits, and early confirmation offers.</a:t>
            </a:r>
          </a:p>
          <a:p>
            <a:r>
              <a:rPr lang="en-GB" sz="1400" dirty="0"/>
              <a:t>Maximize the strong performance of </a:t>
            </a:r>
            <a:r>
              <a:rPr lang="en-GB" sz="1400" dirty="0" err="1"/>
              <a:t>AtliQ</a:t>
            </a:r>
            <a:r>
              <a:rPr lang="en-GB" sz="1400" dirty="0"/>
              <a:t> Palace (Delhi) as a benchmark for operational and service improvements across other properties.</a:t>
            </a:r>
          </a:p>
          <a:p>
            <a:r>
              <a:rPr lang="en-GB" sz="1400" dirty="0"/>
              <a:t> Increase weekend-focused marketing campaigns and leisure packages to improve weekend occupancy and revenue generation.</a:t>
            </a:r>
          </a:p>
          <a:p>
            <a:endParaRPr lang="en-AE" sz="1100" dirty="0"/>
          </a:p>
        </p:txBody>
      </p:sp>
      <p:pic>
        <p:nvPicPr>
          <p:cNvPr id="19" name="Picture 18" descr="Aerial view of a city skyline">
            <a:extLst>
              <a:ext uri="{FF2B5EF4-FFF2-40B4-BE49-F238E27FC236}">
                <a16:creationId xmlns:a16="http://schemas.microsoft.com/office/drawing/2014/main" id="{A68FE218-0BB5-58B3-52BA-6046E9247E40}"/>
              </a:ext>
            </a:extLst>
          </p:cNvPr>
          <p:cNvPicPr>
            <a:picLocks noChangeAspect="1"/>
          </p:cNvPicPr>
          <p:nvPr/>
        </p:nvPicPr>
        <p:blipFill>
          <a:blip r:embed="rId2"/>
          <a:srcRect l="23473" r="24690"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031376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257BE2-A751-B611-751E-D564561FB895}"/>
              </a:ext>
            </a:extLst>
          </p:cNvPr>
          <p:cNvSpPr>
            <a:spLocks noGrp="1"/>
          </p:cNvSpPr>
          <p:nvPr>
            <p:ph type="title"/>
          </p:nvPr>
        </p:nvSpPr>
        <p:spPr>
          <a:xfrm>
            <a:off x="1043631" y="809898"/>
            <a:ext cx="9942716" cy="1554480"/>
          </a:xfrm>
        </p:spPr>
        <p:txBody>
          <a:bodyPr anchor="ctr">
            <a:normAutofit/>
          </a:bodyPr>
          <a:lstStyle/>
          <a:p>
            <a:r>
              <a:rPr lang="en-GB" sz="4800"/>
              <a:t>Conclusion</a:t>
            </a:r>
            <a:endParaRPr lang="en-AE" sz="4800"/>
          </a:p>
        </p:txBody>
      </p:sp>
      <p:sp>
        <p:nvSpPr>
          <p:cNvPr id="3" name="Content Placeholder 2">
            <a:extLst>
              <a:ext uri="{FF2B5EF4-FFF2-40B4-BE49-F238E27FC236}">
                <a16:creationId xmlns:a16="http://schemas.microsoft.com/office/drawing/2014/main" id="{F67DAECD-2990-AA5D-3049-4A37FE030962}"/>
              </a:ext>
            </a:extLst>
          </p:cNvPr>
          <p:cNvSpPr>
            <a:spLocks noGrp="1"/>
          </p:cNvSpPr>
          <p:nvPr>
            <p:ph idx="1"/>
          </p:nvPr>
        </p:nvSpPr>
        <p:spPr>
          <a:xfrm>
            <a:off x="463692" y="2704014"/>
            <a:ext cx="10522655" cy="3163283"/>
          </a:xfrm>
        </p:spPr>
        <p:txBody>
          <a:bodyPr anchor="ctr">
            <a:normAutofit/>
          </a:bodyPr>
          <a:lstStyle/>
          <a:p>
            <a:r>
              <a:rPr lang="en-GB" sz="2200" dirty="0"/>
              <a:t>The analysis shows that Mumbai emerged as the top-performing city in terms of revenue and bookings, while Delhi achieved strong occupancy and customer ratings. Luxury properties and premium room categories contributed the highest share of revenue, highlighting strong demand for high-end hospitality services. Third-party booking platforms played a major role in driving bookings and overall revenue generation. Although ADR remained stable, fluctuations in occupancy and revenue indicate seasonal demand variations across different weeks. Overall, the insights highlight opportunities for </a:t>
            </a:r>
            <a:r>
              <a:rPr lang="en-GB" sz="2200" dirty="0" err="1"/>
              <a:t>AtliQ</a:t>
            </a:r>
            <a:r>
              <a:rPr lang="en-GB" sz="2200" dirty="0"/>
              <a:t> Grands to improve customer experience, reduce cancellations, and strengthen revenue growth through data-driven business strategies.</a:t>
            </a:r>
            <a:endParaRPr lang="en-AE"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2771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387</TotalTime>
  <Words>1346</Words>
  <Application>Microsoft Office PowerPoint</Application>
  <PresentationFormat>Widescreen</PresentationFormat>
  <Paragraphs>97</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AtliQ Grands-Hospitality Analysis</vt:lpstr>
      <vt:lpstr>Company Overview</vt:lpstr>
      <vt:lpstr>Problem Statement</vt:lpstr>
      <vt:lpstr>Project Objectives</vt:lpstr>
      <vt:lpstr>Solution Approach 1.Data Collection</vt:lpstr>
      <vt:lpstr>2.Data Transformation</vt:lpstr>
      <vt:lpstr>3.Data Modeling</vt:lpstr>
      <vt:lpstr>PowerPoint Presentation</vt:lpstr>
      <vt:lpstr>4.DAX &amp; Calculated Columns</vt:lpstr>
      <vt:lpstr>5.Dashboard development</vt:lpstr>
      <vt:lpstr>PowerPoint Presentation</vt:lpstr>
      <vt:lpstr>PowerPoint Presentation</vt:lpstr>
      <vt:lpstr>Insights</vt:lpstr>
      <vt:lpstr>Executive View</vt:lpstr>
      <vt:lpstr>Revenue Insights</vt:lpstr>
      <vt:lpstr>Booking Insights</vt:lpstr>
      <vt:lpstr>Recommendations</vt:lpstr>
      <vt:lpstr>Conclusion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Fathima Ashraf</dc:creator>
  <cp:lastModifiedBy>Fathima Ashraf</cp:lastModifiedBy>
  <cp:revision>9</cp:revision>
  <dcterms:created xsi:type="dcterms:W3CDTF">2026-05-05T12:45:19Z</dcterms:created>
  <dcterms:modified xsi:type="dcterms:W3CDTF">2026-06-03T15:13:35Z</dcterms:modified>
</cp:coreProperties>
</file>